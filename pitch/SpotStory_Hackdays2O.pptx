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3700" y="3365500"/>
            <a:ext cx="62230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90900"/>
            <a:ext cx="5651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 i="0">
                <a:solidFill>
                  <a:srgbClr val="263956"/>
                </a:solidFill>
                <a:latin typeface="Arial"/>
              </a:rPr>
              <a:t>SpotStory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3924300"/>
            <a:ext cx="5969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2E6E58"/>
                </a:solidFill>
                <a:latin typeface="Arial"/>
              </a:rPr>
              <a:t>Gemini-assisted skin-change visit prep · not cancer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700" y="4241800"/>
            <a:ext cx="54102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2545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00" b="0" i="0">
                <a:solidFill>
                  <a:srgbClr val="6E7C8F"/>
                </a:solidFill>
                <a:latin typeface="Arial"/>
              </a:rPr>
              <a:t>Team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06900"/>
            <a:ext cx="49022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40" b="0" i="0">
                <a:solidFill>
                  <a:srgbClr val="263956"/>
                </a:solidFill>
                <a:latin typeface="Arial"/>
              </a:rPr>
              <a:t>[TEAM NAME — exact Unstop name]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700" y="5181600"/>
            <a:ext cx="55245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232400"/>
            <a:ext cx="5207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19" b="0" i="0">
                <a:solidFill>
                  <a:srgbClr val="263956"/>
                </a:solidFill>
                <a:latin typeface="Arial"/>
              </a:rPr>
              <a:t>[Member 1]   ·   [Member 2]   ·   [Member 3]   ·   [Member 4]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" y="5854700"/>
            <a:ext cx="69596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9899" y="5892800"/>
            <a:ext cx="889000" cy="241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299" y="5943600"/>
            <a:ext cx="8382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690" b="0" i="0">
                <a:solidFill>
                  <a:srgbClr val="E95B39"/>
                </a:solidFill>
                <a:latin typeface="Arial"/>
              </a:rPr>
              <a:t>Healthcare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73200" y="5892800"/>
            <a:ext cx="800100" cy="241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18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98600" y="5943600"/>
            <a:ext cx="7493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690" b="0" i="0">
                <a:solidFill>
                  <a:srgbClr val="318BE1"/>
                </a:solidFill>
                <a:latin typeface="Arial"/>
              </a:rPr>
              <a:t>AI / 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87600" y="5892800"/>
            <a:ext cx="1193800" cy="241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18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13000" y="59436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690" b="0" i="0">
                <a:solidFill>
                  <a:srgbClr val="318BE1"/>
                </a:solidFill>
                <a:latin typeface="Arial"/>
              </a:rPr>
              <a:t>Open Innovation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8300" y="6248400"/>
            <a:ext cx="6553200" cy="24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86500"/>
            <a:ext cx="6324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680" b="0" i="1">
                <a:solidFill>
                  <a:srgbClr val="87938E"/>
                </a:solidFill>
                <a:latin typeface="Arial"/>
              </a:rPr>
              <a:t>A conversation-prep prototype: visual notes, personal timeline, clinician handoff.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2900" y="2628900"/>
            <a:ext cx="4368800" cy="3403600"/>
          </a:xfrm>
          <a:prstGeom prst="roundRect">
            <a:avLst/>
          </a:prstGeom>
          <a:solidFill>
            <a:srgbClr val="F1F3F8"/>
          </a:solidFill>
          <a:ln w="9525">
            <a:solidFill>
              <a:srgbClr val="C9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49800" y="2628900"/>
            <a:ext cx="4368800" cy="3403600"/>
          </a:xfrm>
          <a:prstGeom prst="roundRect">
            <a:avLst/>
          </a:prstGeom>
          <a:solidFill>
            <a:srgbClr val="F1F3F8"/>
          </a:solidFill>
          <a:ln w="9525">
            <a:solidFill>
              <a:srgbClr val="C9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22300" y="2921000"/>
            <a:ext cx="342900" cy="342900"/>
          </a:xfrm>
          <a:prstGeom prst="ellipse">
            <a:avLst/>
          </a:prstGeom>
          <a:solidFill>
            <a:srgbClr val="E9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6" name="Oval 5"/>
          <p:cNvSpPr/>
          <p:nvPr/>
        </p:nvSpPr>
        <p:spPr>
          <a:xfrm>
            <a:off x="5016500" y="2921000"/>
            <a:ext cx="342900" cy="342900"/>
          </a:xfrm>
          <a:prstGeom prst="ellipse">
            <a:avLst/>
          </a:prstGeom>
          <a:solidFill>
            <a:srgbClr val="318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" y="2946400"/>
            <a:ext cx="3022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0" i="0">
                <a:solidFill>
                  <a:srgbClr val="263956"/>
                </a:solidFill>
                <a:latin typeface="Arial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946400"/>
            <a:ext cx="3022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0" i="0">
                <a:solidFill>
                  <a:srgbClr val="263956"/>
                </a:solidFill>
                <a:latin typeface="Arial"/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416300"/>
            <a:ext cx="3822700" cy="233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30" b="1">
                <a:solidFill>
                  <a:srgbClr val="E95B39"/>
                </a:solidFill>
                <a:latin typeface="Arial"/>
              </a:rPr>
              <a:t>•  </a:t>
            </a:r>
            <a:r>
              <a:rPr sz="930">
                <a:solidFill>
                  <a:srgbClr val="506159"/>
                </a:solidFill>
                <a:latin typeface="Arial"/>
              </a:rPr>
              <a:t>A single phone photo loses the timeline: when a spot appeared and how it changed.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30" b="1">
                <a:solidFill>
                  <a:srgbClr val="E95B39"/>
                </a:solidFill>
                <a:latin typeface="Arial"/>
              </a:rPr>
              <a:t>•  </a:t>
            </a:r>
            <a:r>
              <a:rPr sz="930">
                <a:solidFill>
                  <a:srgbClr val="506159"/>
                </a:solidFill>
                <a:latin typeface="Arial"/>
              </a:rPr>
              <a:t>An unvalidated “AI cancer score” can overclaim what a camera image proves.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30" b="1">
                <a:solidFill>
                  <a:srgbClr val="E95B39"/>
                </a:solidFill>
                <a:latin typeface="Arial"/>
              </a:rPr>
              <a:t>•  </a:t>
            </a:r>
            <a:r>
              <a:rPr sz="930">
                <a:solidFill>
                  <a:srgbClr val="506159"/>
                </a:solidFill>
                <a:latin typeface="Arial"/>
              </a:rPr>
              <a:t>ACS flags new/evolving spots; AAD includes all skin tones, palms, soles and nails.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30" b="1">
                <a:solidFill>
                  <a:srgbClr val="E95B39"/>
                </a:solidFill>
                <a:latin typeface="Arial"/>
              </a:rPr>
              <a:t>•  </a:t>
            </a:r>
            <a:r>
              <a:rPr sz="930">
                <a:solidFill>
                  <a:srgbClr val="506159"/>
                </a:solidFill>
                <a:latin typeface="Arial"/>
              </a:rPr>
              <a:t>Need: an accessible bridge from “I noticed this” to a clearer care conversation.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6500" y="3416300"/>
            <a:ext cx="3810000" cy="233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30" b="1">
                <a:solidFill>
                  <a:srgbClr val="318BE1"/>
                </a:solidFill>
                <a:latin typeface="Arial"/>
              </a:rPr>
              <a:t>•  </a:t>
            </a:r>
            <a:r>
              <a:rPr sz="930">
                <a:solidFill>
                  <a:srgbClr val="506159"/>
                </a:solidFill>
                <a:latin typeface="Arial"/>
              </a:rPr>
              <a:t>SpotStory pairs a person’s own timeline with optional Gemini photo notes.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30" b="1">
                <a:solidFill>
                  <a:srgbClr val="318BE1"/>
                </a:solidFill>
                <a:latin typeface="Arial"/>
              </a:rPr>
              <a:t>•  </a:t>
            </a:r>
            <a:r>
              <a:rPr sz="930">
                <a:solidFill>
                  <a:srgbClr val="506159"/>
                </a:solidFill>
                <a:latin typeface="Arial"/>
              </a:rPr>
              <a:t>Gemini describes visible cues only — no cancer label, probability, or “all clear.”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30" b="1">
                <a:solidFill>
                  <a:srgbClr val="318BE1"/>
                </a:solidFill>
                <a:latin typeface="Arial"/>
              </a:rPr>
              <a:t>•  </a:t>
            </a:r>
            <a:r>
              <a:rPr sz="930">
                <a:solidFill>
                  <a:srgbClr val="506159"/>
                </a:solidFill>
                <a:latin typeface="Arial"/>
              </a:rPr>
              <a:t>The browser turns selected facts into an editable, visit-ready note.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30" b="1">
                <a:solidFill>
                  <a:srgbClr val="318BE1"/>
                </a:solidFill>
                <a:latin typeface="Arial"/>
              </a:rPr>
              <a:t>•  </a:t>
            </a:r>
            <a:r>
              <a:rPr sz="930">
                <a:solidFill>
                  <a:srgbClr val="506159"/>
                </a:solidFill>
                <a:latin typeface="Arial"/>
              </a:rPr>
              <a:t>Static, sourced guidance supports clinician follow-up; no diagnosis or urgency score.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700" y="6096000"/>
            <a:ext cx="67945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121400"/>
            <a:ext cx="660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10" b="0" i="1">
                <a:solidFill>
                  <a:srgbClr val="2E6E58"/>
                </a:solidFill>
                <a:latin typeface="Arial"/>
              </a:rPr>
              <a:t>Sources: American Cancer Society · American Academy of Dermatology | Prototype, not clinically validated.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2900" y="2628900"/>
            <a:ext cx="3111500" cy="1282700"/>
          </a:xfrm>
          <a:prstGeom prst="roundRect">
            <a:avLst/>
          </a:prstGeom>
          <a:solidFill>
            <a:srgbClr val="F1F3F8"/>
          </a:solidFill>
          <a:ln w="8255">
            <a:solidFill>
              <a:srgbClr val="D0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0700" y="2794000"/>
            <a:ext cx="279400" cy="279400"/>
          </a:xfrm>
          <a:prstGeom prst="ellipse">
            <a:avLst/>
          </a:prstGeom>
          <a:solidFill>
            <a:srgbClr val="E9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19400"/>
            <a:ext cx="2413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1" i="0">
                <a:solidFill>
                  <a:srgbClr val="263956"/>
                </a:solidFill>
                <a:latin typeface="Arial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3200400"/>
            <a:ext cx="27559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Vanilla HTML / CSS / JS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Responsive, accessible UI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Local image preview + resize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6000" y="2628900"/>
            <a:ext cx="3073400" cy="1282700"/>
          </a:xfrm>
          <a:prstGeom prst="roundRect">
            <a:avLst/>
          </a:prstGeom>
          <a:solidFill>
            <a:srgbClr val="F1F3F8"/>
          </a:solidFill>
          <a:ln w="8255">
            <a:solidFill>
              <a:srgbClr val="D0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33799" y="2794000"/>
            <a:ext cx="279400" cy="279400"/>
          </a:xfrm>
          <a:prstGeom prst="ellipse">
            <a:avLst/>
          </a:prstGeom>
          <a:solidFill>
            <a:srgbClr val="318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27500" y="2819400"/>
            <a:ext cx="23749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1" i="0">
                <a:solidFill>
                  <a:srgbClr val="263956"/>
                </a:solidFill>
                <a:latin typeface="Arial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6500" y="3200400"/>
            <a:ext cx="2717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Node.js 18 · built-in HTTP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Same-origin Gemini proxy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Input validation + rate limit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31000" y="2628900"/>
            <a:ext cx="2984500" cy="1282700"/>
          </a:xfrm>
          <a:prstGeom prst="roundRect">
            <a:avLst/>
          </a:prstGeom>
          <a:solidFill>
            <a:srgbClr val="F1F3F8"/>
          </a:solidFill>
          <a:ln w="8255">
            <a:solidFill>
              <a:srgbClr val="D0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08800" y="2794000"/>
            <a:ext cx="279400" cy="279400"/>
          </a:xfrm>
          <a:prstGeom prst="ellipse">
            <a:avLst/>
          </a:prstGeom>
          <a:solidFill>
            <a:srgbClr val="F3A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2500" y="28194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1" i="0">
                <a:solidFill>
                  <a:srgbClr val="263956"/>
                </a:solidFill>
                <a:latin typeface="Arial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1500" y="3200400"/>
            <a:ext cx="26289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No database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No image written to disk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Timeline remains in browser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" y="4000500"/>
            <a:ext cx="3111500" cy="1282700"/>
          </a:xfrm>
          <a:prstGeom prst="roundRect">
            <a:avLst/>
          </a:prstGeom>
          <a:solidFill>
            <a:srgbClr val="F1F3F8"/>
          </a:solidFill>
          <a:ln w="8255">
            <a:solidFill>
              <a:srgbClr val="D0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0700" y="4165600"/>
            <a:ext cx="279400" cy="279400"/>
          </a:xfrm>
          <a:prstGeom prst="ellipse">
            <a:avLst/>
          </a:prstGeom>
          <a:solidFill>
            <a:srgbClr val="E9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90999"/>
            <a:ext cx="2413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1" i="0">
                <a:solidFill>
                  <a:srgbClr val="263956"/>
                </a:solidFill>
                <a:latin typeface="Arial"/>
              </a:rPr>
              <a:t>Public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572000"/>
            <a:ext cx="27559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Google Gemini API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`generateContent` image input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Server-to-server request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6000" y="4000500"/>
            <a:ext cx="3073400" cy="1282700"/>
          </a:xfrm>
          <a:prstGeom prst="roundRect">
            <a:avLst/>
          </a:prstGeom>
          <a:solidFill>
            <a:srgbClr val="F1F3F8"/>
          </a:solidFill>
          <a:ln w="8255">
            <a:solidFill>
              <a:srgbClr val="D0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33799" y="4165600"/>
            <a:ext cx="279400" cy="279400"/>
          </a:xfrm>
          <a:prstGeom prst="ellipse">
            <a:avLst/>
          </a:prstGeom>
          <a:solidFill>
            <a:srgbClr val="318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27500" y="4190999"/>
            <a:ext cx="23749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1" i="0">
                <a:solidFill>
                  <a:srgbClr val="263956"/>
                </a:solidFill>
                <a:latin typeface="Arial"/>
              </a:rPr>
              <a:t>AI / 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6500" y="4572000"/>
            <a:ext cx="2717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Gemini 3.5 Flash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Structured JSON visual notes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No diagnosis or risk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31000" y="4000500"/>
            <a:ext cx="2984500" cy="1282700"/>
          </a:xfrm>
          <a:prstGeom prst="roundRect">
            <a:avLst/>
          </a:prstGeom>
          <a:solidFill>
            <a:srgbClr val="F1F3F8"/>
          </a:solidFill>
          <a:ln w="8255">
            <a:solidFill>
              <a:srgbClr val="D0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08800" y="4165600"/>
            <a:ext cx="279400" cy="279400"/>
          </a:xfrm>
          <a:prstGeom prst="ellipse">
            <a:avLst/>
          </a:prstGeom>
          <a:solidFill>
            <a:srgbClr val="F3A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2500" y="4190999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1" i="0">
                <a:solidFill>
                  <a:srgbClr val="263956"/>
                </a:solidFill>
                <a:latin typeface="Arial"/>
              </a:rPr>
              <a:t>Other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1500" y="4572000"/>
            <a:ext cx="26289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Google AI Studio key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`.env.local` server secret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30" b="0" i="0">
                <a:solidFill>
                  <a:srgbClr val="506159"/>
                </a:solidFill>
                <a:latin typeface="Arial"/>
              </a:rPr>
              <a:t>Synthetic/static demo mode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700" y="5346700"/>
            <a:ext cx="67945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000" y="5372100"/>
            <a:ext cx="660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10" b="0" i="1">
                <a:solidFill>
                  <a:srgbClr val="2E6E58"/>
                </a:solidFill>
                <a:latin typeface="Arial"/>
              </a:rPr>
              <a:t>Live request sends only the resized image and selected output language; user timeline stays client-side.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2900" y="2628900"/>
            <a:ext cx="9372600" cy="3416300"/>
          </a:xfrm>
          <a:prstGeom prst="roundRect">
            <a:avLst/>
          </a:prstGeom>
          <a:solidFill>
            <a:srgbClr val="F1F3F8"/>
          </a:solidFill>
          <a:ln w="9525">
            <a:solidFill>
              <a:srgbClr val="C9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89560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1" i="0">
                <a:solidFill>
                  <a:srgbClr val="87938E"/>
                </a:solidFill>
                <a:latin typeface="Arial"/>
              </a:rPr>
              <a:t>LIVE FLOW · EXPLICIT CONSENT · NO PERSISTENT IMAGE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2300" y="3543300"/>
            <a:ext cx="1409700" cy="1003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8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3721100"/>
            <a:ext cx="1231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00" b="1" i="0">
                <a:solidFill>
                  <a:srgbClr val="318BE1"/>
                </a:solidFill>
                <a:latin typeface="Arial"/>
              </a:rPr>
              <a:t>01 ·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4000500"/>
            <a:ext cx="12319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1" i="0">
                <a:solidFill>
                  <a:srgbClr val="263632"/>
                </a:solidFill>
                <a:latin typeface="Arial"/>
              </a:rPr>
              <a:t>Selects own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1" i="0">
                <a:solidFill>
                  <a:srgbClr val="263632"/>
                </a:solidFill>
                <a:latin typeface="Arial"/>
              </a:rPr>
              <a:t>spot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4900" y="3543300"/>
            <a:ext cx="1409700" cy="1003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3800" y="3721100"/>
            <a:ext cx="1231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00" b="1" i="0">
                <a:solidFill>
                  <a:srgbClr val="E95B39"/>
                </a:solidFill>
                <a:latin typeface="Arial"/>
              </a:rPr>
              <a:t>02 ·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3800" y="4000500"/>
            <a:ext cx="12319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1" i="0">
                <a:solidFill>
                  <a:srgbClr val="263632"/>
                </a:solidFill>
                <a:latin typeface="Arial"/>
              </a:rPr>
              <a:t>Previews +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1" i="0">
                <a:solidFill>
                  <a:srgbClr val="263632"/>
                </a:solidFill>
                <a:latin typeface="Arial"/>
              </a:rPr>
              <a:t>resizes photo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27500" y="3543300"/>
            <a:ext cx="1409700" cy="1003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6400" y="3721100"/>
            <a:ext cx="1231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00" b="1" i="0">
                <a:solidFill>
                  <a:srgbClr val="263956"/>
                </a:solidFill>
                <a:latin typeface="Arial"/>
              </a:rPr>
              <a:t>03 ·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6400" y="4000500"/>
            <a:ext cx="12319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1" i="0">
                <a:solidFill>
                  <a:srgbClr val="263632"/>
                </a:solidFill>
                <a:latin typeface="Arial"/>
              </a:rPr>
              <a:t>Checks file;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1" i="0">
                <a:solidFill>
                  <a:srgbClr val="263632"/>
                </a:solidFill>
                <a:latin typeface="Arial"/>
              </a:rPr>
              <a:t>hides API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80100" y="3543300"/>
            <a:ext cx="1409700" cy="1003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69000" y="3721100"/>
            <a:ext cx="1231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00" b="1" i="0">
                <a:solidFill>
                  <a:srgbClr val="2E6E58"/>
                </a:solidFill>
                <a:latin typeface="Arial"/>
              </a:rPr>
              <a:t>04 · 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9000" y="4000500"/>
            <a:ext cx="12319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1" i="0">
                <a:solidFill>
                  <a:srgbClr val="263632"/>
                </a:solidFill>
                <a:latin typeface="Arial"/>
              </a:rPr>
              <a:t>Returns JSON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1" i="0">
                <a:solidFill>
                  <a:srgbClr val="263632"/>
                </a:solidFill>
                <a:latin typeface="Arial"/>
              </a:rPr>
              <a:t>visual notes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2699" y="3543300"/>
            <a:ext cx="1409700" cy="1003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A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1600" y="3721100"/>
            <a:ext cx="1231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00" b="1" i="0">
                <a:solidFill>
                  <a:srgbClr val="F3AE39"/>
                </a:solidFill>
                <a:latin typeface="Arial"/>
              </a:rPr>
              <a:t>05 · HANDOFF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1600" y="4000500"/>
            <a:ext cx="12319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1" i="0">
                <a:solidFill>
                  <a:srgbClr val="263632"/>
                </a:solidFill>
                <a:latin typeface="Arial"/>
              </a:rPr>
              <a:t>Local visit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1" i="0">
                <a:solidFill>
                  <a:srgbClr val="263632"/>
                </a:solidFill>
                <a:latin typeface="Arial"/>
              </a:rPr>
              <a:t>prep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0100" y="3848099"/>
            <a:ext cx="2667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400" b="1" i="0">
                <a:solidFill>
                  <a:srgbClr val="318BE1"/>
                </a:solidFill>
                <a:latin typeface="Arial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700" y="3848099"/>
            <a:ext cx="2667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400" b="1" i="0">
                <a:solidFill>
                  <a:srgbClr val="318BE1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5300" y="3848099"/>
            <a:ext cx="2667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400" b="1" i="0">
                <a:solidFill>
                  <a:srgbClr val="318BE1"/>
                </a:solidFill>
                <a:latin typeface="Arial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7900" y="3848099"/>
            <a:ext cx="2667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400" b="1" i="0">
                <a:solidFill>
                  <a:srgbClr val="318BE1"/>
                </a:solidFill>
                <a:latin typeface="Arial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500" y="4940300"/>
            <a:ext cx="254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10" b="1" i="0">
                <a:solidFill>
                  <a:srgbClr val="2E6E58"/>
                </a:solidFill>
                <a:latin typeface="Arial"/>
              </a:rPr>
              <a:t>Only the photo + language reach Gemini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59199" y="4940300"/>
            <a:ext cx="2603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10" b="1" i="0">
                <a:solidFill>
                  <a:srgbClr val="2E6E58"/>
                </a:solidFill>
                <a:latin typeface="Arial"/>
              </a:rPr>
              <a:t>Timeline + optional note stay in browser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3700" y="4940300"/>
            <a:ext cx="2349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10" b="1" i="0">
                <a:solidFill>
                  <a:srgbClr val="2E6E58"/>
                </a:solidFill>
                <a:latin typeface="Arial"/>
              </a:rPr>
              <a:t>No diagnosis, probability, or urgency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700" y="5918200"/>
            <a:ext cx="67945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000" y="5943600"/>
            <a:ext cx="660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10" b="0" i="1">
                <a:solidFill>
                  <a:srgbClr val="2E6E58"/>
                </a:solidFill>
                <a:latin typeface="Arial"/>
              </a:rPr>
              <a:t>The photo is not written to disk by this prototype. Live Gemini requests are subject to Google API terms.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2900" y="2628900"/>
            <a:ext cx="9372600" cy="3416300"/>
          </a:xfrm>
          <a:prstGeom prst="roundRect">
            <a:avLst/>
          </a:prstGeom>
          <a:solidFill>
            <a:srgbClr val="F1F3F8"/>
          </a:solidFill>
          <a:ln w="9525">
            <a:solidFill>
              <a:srgbClr val="C9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89560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1" i="0">
                <a:solidFill>
                  <a:srgbClr val="87938E"/>
                </a:solidFill>
                <a:latin typeface="Arial"/>
              </a:rPr>
              <a:t>NO DATABASE · SAME-ORIGIN API · SECRET NEVER ENTERS THE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3390900"/>
            <a:ext cx="2032000" cy="1422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18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3530600"/>
            <a:ext cx="17272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650" b="1" i="0">
                <a:solidFill>
                  <a:srgbClr val="318BE1"/>
                </a:solidFill>
                <a:latin typeface="Arial"/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7465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000" b="1" i="0">
                <a:solidFill>
                  <a:srgbClr val="263956"/>
                </a:solidFill>
                <a:latin typeface="Arial"/>
              </a:rPr>
              <a:t>Browser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4114800"/>
            <a:ext cx="177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730" b="0" i="0">
                <a:solidFill>
                  <a:srgbClr val="506159"/>
                </a:solidFill>
                <a:latin typeface="Arial"/>
              </a:rPr>
              <a:t>Vanilla JS</a:t>
            </a:r>
          </a:p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730" b="0" i="0">
                <a:solidFill>
                  <a:srgbClr val="506159"/>
                </a:solidFill>
                <a:latin typeface="Arial"/>
              </a:rPr>
              <a:t>Story + consent</a:t>
            </a:r>
          </a:p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730" b="0" i="0">
                <a:solidFill>
                  <a:srgbClr val="506159"/>
                </a:solidFill>
                <a:latin typeface="Arial"/>
              </a:rPr>
              <a:t>Image resized locally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0200" y="3390900"/>
            <a:ext cx="2032000" cy="1422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9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2600" y="3530600"/>
            <a:ext cx="17272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650" b="1" i="0">
                <a:solidFill>
                  <a:srgbClr val="E95B39"/>
                </a:solidFill>
                <a:latin typeface="Arial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7200" y="37465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000" b="1" i="0">
                <a:solidFill>
                  <a:srgbClr val="263956"/>
                </a:solidFill>
                <a:latin typeface="Arial"/>
              </a:rPr>
              <a:t>Node.js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7200" y="4114800"/>
            <a:ext cx="177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730" b="0" i="0">
                <a:solidFill>
                  <a:srgbClr val="506159"/>
                </a:solidFill>
                <a:latin typeface="Arial"/>
              </a:rPr>
              <a:t>MIME / size check</a:t>
            </a:r>
          </a:p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730" b="0" i="0">
                <a:solidFill>
                  <a:srgbClr val="506159"/>
                </a:solidFill>
                <a:latin typeface="Arial"/>
              </a:rPr>
              <a:t>Rate-limited proxy</a:t>
            </a:r>
          </a:p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730" b="0" i="0">
                <a:solidFill>
                  <a:srgbClr val="506159"/>
                </a:solidFill>
                <a:latin typeface="Arial"/>
              </a:rPr>
              <a:t>Output safety filter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6200" y="3390900"/>
            <a:ext cx="2032000" cy="1422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E6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8600" y="3530600"/>
            <a:ext cx="17272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650" b="1" i="0">
                <a:solidFill>
                  <a:srgbClr val="2E6E58"/>
                </a:solidFill>
                <a:latin typeface="Arial"/>
              </a:rPr>
              <a:t>AI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3200" y="37465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000" b="1" i="0">
                <a:solidFill>
                  <a:srgbClr val="263956"/>
                </a:solidFill>
                <a:latin typeface="Arial"/>
              </a:rPr>
              <a:t>Gemini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3200" y="4114800"/>
            <a:ext cx="177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730" b="0" i="0">
                <a:solidFill>
                  <a:srgbClr val="506159"/>
                </a:solidFill>
                <a:latin typeface="Arial"/>
              </a:rPr>
              <a:t>Image input only</a:t>
            </a:r>
          </a:p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730" b="0" i="0">
                <a:solidFill>
                  <a:srgbClr val="506159"/>
                </a:solidFill>
                <a:latin typeface="Arial"/>
              </a:rPr>
              <a:t>Constrained JSON</a:t>
            </a:r>
          </a:p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730" b="0" i="0">
                <a:solidFill>
                  <a:srgbClr val="506159"/>
                </a:solidFill>
                <a:latin typeface="Arial"/>
              </a:rPr>
              <a:t>Key in server header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2200" y="3390900"/>
            <a:ext cx="2032000" cy="1422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6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94600" y="3530600"/>
            <a:ext cx="17272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650" b="1" i="0">
                <a:solidFill>
                  <a:srgbClr val="263956"/>
                </a:solidFill>
                <a:latin typeface="Arial"/>
              </a:rPr>
              <a:t>DATA / INFRA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9200" y="37465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000" b="1" i="0">
                <a:solidFill>
                  <a:srgbClr val="263956"/>
                </a:solidFill>
                <a:latin typeface="Arial"/>
              </a:rPr>
              <a:t>No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9200" y="4114800"/>
            <a:ext cx="177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730" b="0" i="0">
                <a:solidFill>
                  <a:srgbClr val="506159"/>
                </a:solidFill>
                <a:latin typeface="Arial"/>
              </a:rPr>
              <a:t>No file persistence</a:t>
            </a:r>
          </a:p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730" b="0" i="0">
                <a:solidFill>
                  <a:srgbClr val="506159"/>
                </a:solidFill>
                <a:latin typeface="Arial"/>
              </a:rPr>
              <a:t>Secret in .env.local</a:t>
            </a:r>
          </a:p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730" b="0" i="0">
                <a:solidFill>
                  <a:srgbClr val="506159"/>
                </a:solidFill>
                <a:latin typeface="Arial"/>
              </a:rPr>
              <a:t>Usage-based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8900" y="3911600"/>
            <a:ext cx="215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318BE1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4900" y="3911600"/>
            <a:ext cx="215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318BE1"/>
                </a:solidFill>
                <a:latin typeface="Arial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900" y="3911600"/>
            <a:ext cx="215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318BE1"/>
                </a:solidFill>
                <a:latin typeface="Arial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6899" y="5168900"/>
            <a:ext cx="6350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40" b="1" i="0">
                <a:solidFill>
                  <a:srgbClr val="2E6E58"/>
                </a:solidFill>
                <a:latin typeface="Arial"/>
              </a:rPr>
              <a:t>Returned notes + locally composed story → editable visit brief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6700" y="5918200"/>
            <a:ext cx="67945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000" y="5943600"/>
            <a:ext cx="660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10" b="0" i="1">
                <a:solidFill>
                  <a:srgbClr val="2E6E58"/>
                </a:solidFill>
                <a:latin typeface="Arial"/>
              </a:rPr>
              <a:t>Future deployment would add identity, encryption, consent governance, clinical review, and privacy/regulatory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30200" y="2717800"/>
            <a:ext cx="3035300" cy="3175000"/>
          </a:xfrm>
          <a:prstGeom prst="roundRect">
            <a:avLst/>
          </a:prstGeom>
          <a:solidFill>
            <a:srgbClr val="F1F3F8"/>
          </a:solidFill>
          <a:ln w="8890">
            <a:solidFill>
              <a:srgbClr val="D0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12900" y="2984500"/>
            <a:ext cx="431800" cy="431800"/>
          </a:xfrm>
          <a:prstGeom prst="ellipse">
            <a:avLst/>
          </a:prstGeom>
          <a:solidFill>
            <a:srgbClr val="E9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3632200"/>
            <a:ext cx="2603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320" b="1" i="0">
                <a:solidFill>
                  <a:srgbClr val="263956"/>
                </a:solidFill>
                <a:latin typeface="Arial"/>
              </a:rPr>
              <a:t>Pixels → a visit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4140200"/>
            <a:ext cx="2387600" cy="105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  <a:spcAft>
                <a:spcPts val="0"/>
              </a:spcAft>
            </a:pPr>
            <a:r>
              <a:rPr sz="919" b="0" i="0">
                <a:solidFill>
                  <a:srgbClr val="506159"/>
                </a:solidFill>
                <a:latin typeface="Arial"/>
              </a:rPr>
              <a:t>Gemini notes visible cues; the person supplies the timeline. The handoff — not a cancer score — is the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0600" y="2717800"/>
            <a:ext cx="3035300" cy="3175000"/>
          </a:xfrm>
          <a:prstGeom prst="roundRect">
            <a:avLst/>
          </a:prstGeom>
          <a:solidFill>
            <a:srgbClr val="F1F3F8"/>
          </a:solidFill>
          <a:ln w="8890">
            <a:solidFill>
              <a:srgbClr val="D0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13300" y="2984500"/>
            <a:ext cx="431800" cy="431800"/>
          </a:xfrm>
          <a:prstGeom prst="ellipse">
            <a:avLst/>
          </a:prstGeom>
          <a:solidFill>
            <a:srgbClr val="318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6500" y="3632200"/>
            <a:ext cx="2603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320" b="1" i="0">
                <a:solidFill>
                  <a:srgbClr val="263956"/>
                </a:solidFill>
                <a:latin typeface="Arial"/>
              </a:rPr>
              <a:t>A different 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0800" y="4140200"/>
            <a:ext cx="2387600" cy="105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  <a:spcAft>
                <a:spcPts val="0"/>
              </a:spcAft>
            </a:pPr>
            <a:r>
              <a:rPr sz="919" b="0" i="0">
                <a:solidFill>
                  <a:srgbClr val="506159"/>
                </a:solidFill>
                <a:latin typeface="Arial"/>
              </a:rPr>
              <a:t>Miiskin maps and compares photos; SkinVision offers risk indications. SpotStory explores a no-score, editable clinician brief.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31000" y="2717800"/>
            <a:ext cx="3035300" cy="3175000"/>
          </a:xfrm>
          <a:prstGeom prst="roundRect">
            <a:avLst/>
          </a:prstGeom>
          <a:solidFill>
            <a:srgbClr val="F1F3F8"/>
          </a:solidFill>
          <a:ln w="8890">
            <a:solidFill>
              <a:srgbClr val="D0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13700" y="2984500"/>
            <a:ext cx="431800" cy="431800"/>
          </a:xfrm>
          <a:prstGeom prst="ellipse">
            <a:avLst/>
          </a:prstGeom>
          <a:solidFill>
            <a:srgbClr val="F3A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900" y="3632200"/>
            <a:ext cx="2603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320" b="1" i="0">
                <a:solidFill>
                  <a:srgbClr val="263956"/>
                </a:solidFill>
                <a:latin typeface="Arial"/>
              </a:rPr>
              <a:t>A testable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1200" y="4140200"/>
            <a:ext cx="2387600" cy="105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  <a:spcAft>
                <a:spcPts val="0"/>
              </a:spcAft>
            </a:pPr>
            <a:r>
              <a:rPr sz="919" b="0" i="0">
                <a:solidFill>
                  <a:srgbClr val="506159"/>
                </a:solidFill>
                <a:latin typeface="Arial"/>
              </a:rPr>
              <a:t>Bilingual, privacy-light, human-led. Clinician co-design and measured user value must prove it can stand 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700" y="5892800"/>
            <a:ext cx="67945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5918200"/>
            <a:ext cx="660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10" b="0" i="1">
                <a:solidFill>
                  <a:srgbClr val="2E6E58"/>
                </a:solidFill>
                <a:latin typeface="Arial"/>
              </a:rPr>
              <a:t>Landscape scan: Miiskin (photo tracking) · SkinVision (risk indication). Novelty is unproven; validate this no-score handoff with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2900" y="2679700"/>
            <a:ext cx="9372600" cy="889000"/>
          </a:xfrm>
          <a:prstGeom prst="roundRect">
            <a:avLst/>
          </a:prstGeom>
          <a:solidFill>
            <a:srgbClr val="F1F3F8"/>
          </a:solidFill>
          <a:ln w="8255">
            <a:solidFill>
              <a:srgbClr val="D0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6100" y="2933700"/>
            <a:ext cx="355600" cy="355600"/>
          </a:xfrm>
          <a:prstGeom prst="ellipse">
            <a:avLst/>
          </a:prstGeom>
          <a:solidFill>
            <a:srgbClr val="E9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100" y="28448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1" i="0">
                <a:solidFill>
                  <a:srgbClr val="263956"/>
                </a:solidFill>
                <a:latin typeface="Arial"/>
              </a:rPr>
              <a:t>Technical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100" y="3111500"/>
            <a:ext cx="8318499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 i="0">
                <a:solidFill>
                  <a:srgbClr val="506159"/>
                </a:solidFill>
                <a:latin typeface="Arial"/>
              </a:rPr>
              <a:t>Built: responsive UI, synthetic-image demo, server-side Gemini JSON endpoint, response filter, 10 safety/API stub tests, and local note builder.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 i="0">
                <a:solidFill>
                  <a:srgbClr val="506159"/>
                </a:solidFill>
                <a:latin typeface="Arial"/>
              </a:rPr>
              <a:t>Not built: clinical validation, authentication, or production data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" y="3733799"/>
            <a:ext cx="9372600" cy="889000"/>
          </a:xfrm>
          <a:prstGeom prst="roundRect">
            <a:avLst/>
          </a:prstGeom>
          <a:solidFill>
            <a:srgbClr val="F1F3F8"/>
          </a:solidFill>
          <a:ln w="8255">
            <a:solidFill>
              <a:srgbClr val="D0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6100" y="3987799"/>
            <a:ext cx="355600" cy="355600"/>
          </a:xfrm>
          <a:prstGeom prst="ellipse">
            <a:avLst/>
          </a:prstGeom>
          <a:solidFill>
            <a:srgbClr val="318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100" y="38989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1" i="0">
                <a:solidFill>
                  <a:srgbClr val="263956"/>
                </a:solidFill>
                <a:latin typeface="Arial"/>
              </a:rPr>
              <a:t>Market 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100" y="4165600"/>
            <a:ext cx="8318499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 i="0">
                <a:solidFill>
                  <a:srgbClr val="506159"/>
                </a:solidFill>
                <a:latin typeface="Arial"/>
              </a:rPr>
              <a:t>Product hypothesis: people tracking a changing spot may value a clearer visit note; clinicians may value concise patient context.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 i="0">
                <a:solidFill>
                  <a:srgbClr val="506159"/>
                </a:solidFill>
                <a:latin typeface="Arial"/>
              </a:rPr>
              <a:t>Next: interview patients and dermatology/primary-care professionals; quantify willingness to adopt.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" y="4787900"/>
            <a:ext cx="9372600" cy="889000"/>
          </a:xfrm>
          <a:prstGeom prst="roundRect">
            <a:avLst/>
          </a:prstGeom>
          <a:solidFill>
            <a:srgbClr val="F1F3F8"/>
          </a:solidFill>
          <a:ln w="8255">
            <a:solidFill>
              <a:srgbClr val="D0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6100" y="5041900"/>
            <a:ext cx="355600" cy="355600"/>
          </a:xfrm>
          <a:prstGeom prst="ellipse">
            <a:avLst/>
          </a:prstGeom>
          <a:solidFill>
            <a:srgbClr val="F3A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100" y="49530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1" i="0">
                <a:solidFill>
                  <a:srgbClr val="263956"/>
                </a:solidFill>
                <a:latin typeface="Arial"/>
              </a:rPr>
              <a:t>Roadmap &amp;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100" y="5219700"/>
            <a:ext cx="8318499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 i="0">
                <a:solidFill>
                  <a:srgbClr val="506159"/>
                </a:solidFill>
                <a:latin typeface="Arial"/>
              </a:rPr>
              <a:t>0–4 weeks: co-design + privacy/risk review. 1–3 months: usability + representative image testing. 3–6 months: supervised pilot only if approved.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 i="0">
                <a:solidFill>
                  <a:srgbClr val="506159"/>
                </a:solidFill>
                <a:latin typeface="Arial"/>
              </a:rPr>
              <a:t>Prototype API spend: usage-based with a quota cap; production budget and regulatory path TBD.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700" y="5854700"/>
            <a:ext cx="67945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5880100"/>
            <a:ext cx="660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10" b="0" i="1">
                <a:solidFill>
                  <a:srgbClr val="2E6E58"/>
                </a:solidFill>
                <a:latin typeface="Arial"/>
              </a:rPr>
              <a:t>No patient-facing diagnostic use until expert review, representative validation, privacy/security work, and appropriate regulatory assessment.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SpotStory — Hackdays 2.O</dc:title>
  <dc:subject>Best Use of Google Gemini API | Non-diagnostic skin-change visit prep</dc:subject>
  <dc:creator>SpotStory Hackdays Team</dc:creator>
  <cp:keywords>Hackdays 2.O, Gemini API, healthcare, AI, safety-by-design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